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sldIdLst>
    <p:sldId id="256" r:id="rId2"/>
    <p:sldId id="257" r:id="rId3"/>
    <p:sldId id="258" r:id="rId4"/>
    <p:sldId id="265" r:id="rId5"/>
    <p:sldId id="259" r:id="rId6"/>
    <p:sldId id="266" r:id="rId7"/>
    <p:sldId id="267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95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248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904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046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097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698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24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71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70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354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983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536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pa.gov/Post-Secondary-Education/PA-Higher-Education-Institutions-by-Sector-Current/8u5h-xvus/about_data" TargetMode="External"/><Relationship Id="rId2" Type="http://schemas.openxmlformats.org/officeDocument/2006/relationships/hyperlink" Target="https://data.pa.gov/Education/Education-Names-and-Addresses-EdNA-Post-Secondary-/dtvt-jb9p/about_data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ces.ed.gov/ipeds/datacenter/Data.aspx?sid=198301ab-196c-4192-87c6-7c03202a8427&amp;rtid=1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isyapto/CMPSC445_Project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.pa.gov/browse?sortBy=relevance&amp;page=1&amp;pageSize=20" TargetMode="External"/><Relationship Id="rId13" Type="http://schemas.openxmlformats.org/officeDocument/2006/relationships/hyperlink" Target="https://scikit-learn.org/stable/modules/generated/sklearn.impute.SimpleImputer.html" TargetMode="External"/><Relationship Id="rId18" Type="http://schemas.openxmlformats.org/officeDocument/2006/relationships/hyperlink" Target="https://scikit-learn.org/stable/modules/generated/sklearn.metrics.classification_report.html" TargetMode="External"/><Relationship Id="rId3" Type="http://schemas.openxmlformats.org/officeDocument/2006/relationships/hyperlink" Target="https://catalog.data.gov/dataset?q=pennsylvania" TargetMode="External"/><Relationship Id="rId21" Type="http://schemas.openxmlformats.org/officeDocument/2006/relationships/hyperlink" Target="https://scikit-learn.org/stable/modules/generated/sklearn.feature_selection.SelectKBest.html#sklearn.feature_selection.SelectKBest" TargetMode="External"/><Relationship Id="rId7" Type="http://schemas.openxmlformats.org/officeDocument/2006/relationships/hyperlink" Target="https://business.yelp.com/data/resources/open-dataset/" TargetMode="External"/><Relationship Id="rId12" Type="http://schemas.openxmlformats.org/officeDocument/2006/relationships/hyperlink" Target="https://scikit-learn.org/stable/modules/generated/sklearn.ensemble.StackingClassifier.html" TargetMode="External"/><Relationship Id="rId17" Type="http://schemas.openxmlformats.org/officeDocument/2006/relationships/hyperlink" Target="https://scikit-learn.org/stable/modules/generated/sklearn.ensemble.RandomForestClassifier.html" TargetMode="External"/><Relationship Id="rId2" Type="http://schemas.openxmlformats.org/officeDocument/2006/relationships/hyperlink" Target="https://data.pa.gov/Post-Secondary-Education/PA-Higher-Education-Institutions-by-Sector-Current/8u5h-xvus/about_data" TargetMode="External"/><Relationship Id="rId16" Type="http://schemas.openxmlformats.org/officeDocument/2006/relationships/hyperlink" Target="https://scikit-learn.org/stable/modules/generated/sklearn.tree.DecisionTreeClassifier.html" TargetMode="External"/><Relationship Id="rId20" Type="http://schemas.openxmlformats.org/officeDocument/2006/relationships/hyperlink" Target="https://scikit-learn.org/stable/modules/generated/sklearn.impute.IterativeImputer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atalog.data.gov/dataset/?q=resturants&amp;sort=views_recent+desc&amp;ext_location=&amp;ext_bbox=&amp;ext_prev_extent=" TargetMode="External"/><Relationship Id="rId11" Type="http://schemas.openxmlformats.org/officeDocument/2006/relationships/hyperlink" Target="https://scikit-learn.org/stable/modules/ensemble.html" TargetMode="External"/><Relationship Id="rId5" Type="http://schemas.openxmlformats.org/officeDocument/2006/relationships/hyperlink" Target="https://www.pasda.psu.edu/" TargetMode="External"/><Relationship Id="rId15" Type="http://schemas.openxmlformats.org/officeDocument/2006/relationships/hyperlink" Target="https://scikit-learn.org/stable/modules/generated/sklearn.neighbors.KNeighborsClassifier.html#sklearn.neighbors.KNeighborsClassifier" TargetMode="External"/><Relationship Id="rId23" Type="http://schemas.openxmlformats.org/officeDocument/2006/relationships/hyperlink" Target="https://www.collegetuitioncompare.com/compare/tables/?state=PA" TargetMode="External"/><Relationship Id="rId10" Type="http://schemas.openxmlformats.org/officeDocument/2006/relationships/hyperlink" Target="https://en.wikipedia.org/wiki/List_of_counties_in_Pennsylvania" TargetMode="External"/><Relationship Id="rId19" Type="http://schemas.openxmlformats.org/officeDocument/2006/relationships/hyperlink" Target="https://scikit-learn.org/stable/modules/impute.html" TargetMode="External"/><Relationship Id="rId4" Type="http://schemas.openxmlformats.org/officeDocument/2006/relationships/hyperlink" Target="https://github.com/daisyapto/CMPSC445_Project1" TargetMode="External"/><Relationship Id="rId9" Type="http://schemas.openxmlformats.org/officeDocument/2006/relationships/hyperlink" Target="https://data.pa.gov/Post-Secondary-Education/Supply-Demand-Gap-Analysis-2014-2024-State-System-/n3sx-ckrr/about_data" TargetMode="External"/><Relationship Id="rId14" Type="http://schemas.openxmlformats.org/officeDocument/2006/relationships/hyperlink" Target="https://scikit-learn.org/stable/modules/generated/sklearn.impute.KNNImputer.html" TargetMode="External"/><Relationship Id="rId22" Type="http://schemas.openxmlformats.org/officeDocument/2006/relationships/hyperlink" Target="https://colab.research.google.com/drive/17gnNWQZh33lMmOdcHpeg6bP78hJsjtVw?usp=shar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41C467-283E-56FE-3016-9ECA304C4F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387114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/>
              <a:t>”Best in PA” Universities/Colleges Category Ensemble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59F94E-6FA9-F3FC-C4E0-BE9BC7D8CF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785543"/>
            <a:ext cx="4857857" cy="1005657"/>
          </a:xfrm>
        </p:spPr>
        <p:txBody>
          <a:bodyPr>
            <a:normAutofit/>
          </a:bodyPr>
          <a:lstStyle/>
          <a:p>
            <a:r>
              <a:rPr lang="en-US" dirty="0"/>
              <a:t>By: Daisy Aptovska &amp; Zainab Afridi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Back shot of a row of graduates">
            <a:extLst>
              <a:ext uri="{FF2B5EF4-FFF2-40B4-BE49-F238E27FC236}">
                <a16:creationId xmlns:a16="http://schemas.microsoft.com/office/drawing/2014/main" id="{E25A6DB0-5B3A-D288-AEAD-8E4E657674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75" r="26870" b="-1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30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5AAC9-70C5-5B2A-FC3E-948AB87E5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description &amp;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E1A9-E3E1-23AE-1A91-63CF1DD84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Ensemble Classifier that predicts the best category for a university-based university name, location, relative location to cities, tuition, region, etc.</a:t>
            </a:r>
          </a:p>
          <a:p>
            <a:r>
              <a:rPr lang="en-US" dirty="0"/>
              <a:t>Allows for classification of best categorization type for a post-secondary institution</a:t>
            </a:r>
          </a:p>
          <a:p>
            <a:r>
              <a:rPr lang="en-US" dirty="0"/>
              <a:t>Useful for students to check a specific data entry (a specific university) and how it categorizes</a:t>
            </a:r>
          </a:p>
          <a:p>
            <a:r>
              <a:rPr lang="en-US" dirty="0"/>
              <a:t>Real-world data-based application with website hosting</a:t>
            </a:r>
          </a:p>
        </p:txBody>
      </p:sp>
    </p:spTree>
    <p:extLst>
      <p:ext uri="{BB962C8B-B14F-4D97-AF65-F5344CB8AC3E}">
        <p14:creationId xmlns:p14="http://schemas.microsoft.com/office/powerpoint/2010/main" val="1859859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80482-8D7E-2105-518D-CF344B518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07E5A-7AF5-9275-AB00-2A3620231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796902"/>
            <a:ext cx="10691265" cy="416498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3 Datasets from PA gov websites</a:t>
            </a:r>
          </a:p>
          <a:p>
            <a:pPr lvl="1"/>
            <a:r>
              <a:rPr lang="en-US" dirty="0">
                <a:hlinkClick r:id="rId2"/>
              </a:rPr>
              <a:t>https://data.pa.gov/Education/Education-Names-and-Addresses-EdNA-Post-Secondary-/dtvt-jb9p/about_data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https://data.pa.gov/Post-Secondary-Education/PA-Higher-Education-Institutions-by-Sector-Current/8u5h-xvus/about_data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https://nces.ed.gov/ipeds/datacenter/Data.aspx?sid=198301ab-196c-4192-87c6-7c03202a8427&amp;rtid=1</a:t>
            </a:r>
            <a:endParaRPr lang="en-US" dirty="0"/>
          </a:p>
          <a:p>
            <a:r>
              <a:rPr lang="en-US" dirty="0"/>
              <a:t>After filtering, cleaning, and preprocessing:</a:t>
            </a:r>
          </a:p>
          <a:p>
            <a:pPr lvl="1"/>
            <a:r>
              <a:rPr lang="en-US" dirty="0"/>
              <a:t>1200+ rows</a:t>
            </a:r>
          </a:p>
          <a:p>
            <a:pPr lvl="1"/>
            <a:r>
              <a:rPr lang="en-US" dirty="0"/>
              <a:t>Lots of imputation needed; reduced dataset </a:t>
            </a:r>
            <a:r>
              <a:rPr lang="en-US" dirty="0">
                <a:sym typeface="Wingdings" pitchFamily="2" charset="2"/>
              </a:rPr>
              <a:t> reduced imputation needed</a:t>
            </a:r>
          </a:p>
          <a:p>
            <a:pPr lvl="1"/>
            <a:r>
              <a:rPr lang="en-US" dirty="0">
                <a:sym typeface="Wingdings" pitchFamily="2" charset="2"/>
              </a:rPr>
              <a:t>Filtered to only universities/colleges but did not include technical programs and admin offices (like in dataset)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104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78F64-020E-B9E2-3145-F6432119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49569-3C02-B98E-BA53-08FFA1A5D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722474"/>
            <a:ext cx="10691265" cy="4239414"/>
          </a:xfrm>
        </p:spPr>
        <p:txBody>
          <a:bodyPr>
            <a:normAutofit/>
          </a:bodyPr>
          <a:lstStyle/>
          <a:p>
            <a:r>
              <a:rPr lang="en-US" dirty="0"/>
              <a:t>Feature engineering </a:t>
            </a:r>
          </a:p>
          <a:p>
            <a:pPr lvl="1"/>
            <a:r>
              <a:rPr lang="en-US" dirty="0"/>
              <a:t>Coordinate distance from top 5 largest cities from institution</a:t>
            </a:r>
          </a:p>
          <a:p>
            <a:pPr lvl="1"/>
            <a:r>
              <a:rPr lang="en-US" dirty="0"/>
              <a:t>Manual one-hot encoding on 5 regions of the state based on county classification</a:t>
            </a:r>
          </a:p>
          <a:p>
            <a:r>
              <a:rPr lang="en-US" dirty="0"/>
              <a:t>Clean through imputation of missing values</a:t>
            </a:r>
          </a:p>
          <a:p>
            <a:pPr lvl="1"/>
            <a:r>
              <a:rPr lang="en-US" dirty="0"/>
              <a:t>Numerical </a:t>
            </a:r>
            <a:r>
              <a:rPr lang="en-US" dirty="0">
                <a:sym typeface="Wingdings" pitchFamily="2" charset="2"/>
              </a:rPr>
              <a:t> iterative imputer (15); may lead to more robust imputations than simply mean</a:t>
            </a:r>
          </a:p>
          <a:p>
            <a:pPr lvl="1"/>
            <a:r>
              <a:rPr lang="en-US" dirty="0">
                <a:sym typeface="Wingdings" pitchFamily="2" charset="2"/>
              </a:rPr>
              <a:t>Categorical  simple imputer; most frequent value</a:t>
            </a:r>
          </a:p>
          <a:p>
            <a:r>
              <a:rPr lang="en-US" dirty="0">
                <a:sym typeface="Wingdings" pitchFamily="2" charset="2"/>
              </a:rPr>
              <a:t>Encode categorical data</a:t>
            </a:r>
          </a:p>
          <a:p>
            <a:r>
              <a:rPr lang="en-US" dirty="0">
                <a:sym typeface="Wingdings" pitchFamily="2" charset="2"/>
              </a:rPr>
              <a:t>Use feature selector for 15 best features</a:t>
            </a:r>
          </a:p>
          <a:p>
            <a:r>
              <a:rPr lang="en-US" dirty="0">
                <a:sym typeface="Wingdings" pitchFamily="2" charset="2"/>
              </a:rPr>
              <a:t>Scale all data</a:t>
            </a:r>
          </a:p>
          <a:p>
            <a:r>
              <a:rPr lang="en-US" dirty="0">
                <a:sym typeface="Wingdings" pitchFamily="2" charset="2"/>
              </a:rPr>
              <a:t>Split (90% training, 10% testing)  smaller testing sample since dataset is small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788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E5177-21AE-4F3B-F9F8-7233F8E65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84111-489E-E61B-F0D7-13C21C468E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39433"/>
            <a:ext cx="10691265" cy="412245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Ensemble Classification Model of 6 Classifiers with Soft Voting:</a:t>
            </a:r>
          </a:p>
          <a:p>
            <a:pPr lvl="1"/>
            <a:r>
              <a:rPr lang="en-US" dirty="0"/>
              <a:t>K-Nearest Neighbors</a:t>
            </a:r>
          </a:p>
          <a:p>
            <a:pPr lvl="2"/>
            <a:r>
              <a:rPr lang="en-US" dirty="0"/>
              <a:t>k=20, weights=distance, algorithm=brute</a:t>
            </a:r>
          </a:p>
          <a:p>
            <a:pPr lvl="1"/>
            <a:r>
              <a:rPr lang="en-US" dirty="0"/>
              <a:t>Decision Tree</a:t>
            </a:r>
          </a:p>
          <a:p>
            <a:pPr lvl="2"/>
            <a:r>
              <a:rPr lang="en-US" dirty="0"/>
              <a:t>criterion=</a:t>
            </a:r>
            <a:r>
              <a:rPr lang="en-US" dirty="0" err="1"/>
              <a:t>log_loss</a:t>
            </a:r>
            <a:r>
              <a:rPr lang="en-US" dirty="0"/>
              <a:t>, splitter=best, </a:t>
            </a:r>
            <a:r>
              <a:rPr lang="en-US" dirty="0" err="1"/>
              <a:t>max_depth</a:t>
            </a:r>
            <a:r>
              <a:rPr lang="en-US" dirty="0"/>
              <a:t>=10</a:t>
            </a:r>
          </a:p>
          <a:p>
            <a:pPr lvl="1"/>
            <a:r>
              <a:rPr lang="en-US" dirty="0"/>
              <a:t>Random Forest</a:t>
            </a:r>
          </a:p>
          <a:p>
            <a:pPr lvl="2"/>
            <a:r>
              <a:rPr lang="en-US" dirty="0" err="1"/>
              <a:t>n_estimators</a:t>
            </a:r>
            <a:r>
              <a:rPr lang="en-US" dirty="0"/>
              <a:t>=200, criterion=</a:t>
            </a:r>
            <a:r>
              <a:rPr lang="en-US" dirty="0" err="1"/>
              <a:t>log_loss</a:t>
            </a:r>
            <a:r>
              <a:rPr lang="en-US" dirty="0"/>
              <a:t>, </a:t>
            </a:r>
            <a:r>
              <a:rPr lang="en-US" dirty="0" err="1"/>
              <a:t>max_features</a:t>
            </a:r>
            <a:r>
              <a:rPr lang="en-US" dirty="0"/>
              <a:t>=6, </a:t>
            </a:r>
            <a:r>
              <a:rPr lang="en-US" dirty="0" err="1"/>
              <a:t>class_weight</a:t>
            </a:r>
            <a:r>
              <a:rPr lang="en-US" dirty="0"/>
              <a:t>=balanced</a:t>
            </a:r>
          </a:p>
          <a:p>
            <a:pPr lvl="1"/>
            <a:r>
              <a:rPr lang="en-US" dirty="0"/>
              <a:t>Logistic Regression</a:t>
            </a:r>
          </a:p>
          <a:p>
            <a:pPr lvl="2"/>
            <a:r>
              <a:rPr lang="en-US" dirty="0"/>
              <a:t>C=0.5, solver=sag, </a:t>
            </a:r>
            <a:r>
              <a:rPr lang="en-US" dirty="0" err="1"/>
              <a:t>max_iter</a:t>
            </a:r>
            <a:r>
              <a:rPr lang="en-US" dirty="0"/>
              <a:t>=1000</a:t>
            </a:r>
          </a:p>
          <a:p>
            <a:pPr lvl="1"/>
            <a:r>
              <a:rPr lang="en-US" dirty="0"/>
              <a:t>Gradient Boosting</a:t>
            </a:r>
          </a:p>
          <a:p>
            <a:pPr lvl="2"/>
            <a:r>
              <a:rPr lang="en-US" dirty="0" err="1"/>
              <a:t>n_estimators</a:t>
            </a:r>
            <a:r>
              <a:rPr lang="en-US" dirty="0"/>
              <a:t>=300, </a:t>
            </a:r>
            <a:r>
              <a:rPr lang="en-US" dirty="0" err="1"/>
              <a:t>learning_rate</a:t>
            </a:r>
            <a:r>
              <a:rPr lang="en-US" dirty="0"/>
              <a:t>=0.05</a:t>
            </a:r>
          </a:p>
          <a:p>
            <a:pPr lvl="1"/>
            <a:r>
              <a:rPr lang="en-US" dirty="0"/>
              <a:t>AdaBoost</a:t>
            </a:r>
          </a:p>
          <a:p>
            <a:pPr lvl="2"/>
            <a:r>
              <a:rPr lang="en-US" dirty="0" err="1"/>
              <a:t>n_estimators</a:t>
            </a:r>
            <a:r>
              <a:rPr lang="en-US" dirty="0"/>
              <a:t>=300, </a:t>
            </a:r>
            <a:r>
              <a:rPr lang="en-US" dirty="0" err="1"/>
              <a:t>learning_rate</a:t>
            </a:r>
            <a:r>
              <a:rPr lang="en-US" dirty="0"/>
              <a:t>=0.05</a:t>
            </a:r>
          </a:p>
        </p:txBody>
      </p:sp>
    </p:spTree>
    <p:extLst>
      <p:ext uri="{BB962C8B-B14F-4D97-AF65-F5344CB8AC3E}">
        <p14:creationId xmlns:p14="http://schemas.microsoft.com/office/powerpoint/2010/main" val="3579190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A9BB3-42F9-D9BA-7330-FED87B0C5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7D197-E63C-53B9-DA3E-226B8BEDC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50065"/>
            <a:ext cx="5395365" cy="41118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Accuracy Performance: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0EB5108-B0BE-DA53-7A0D-F17CAD1BCFEF}"/>
              </a:ext>
            </a:extLst>
          </p:cNvPr>
          <p:cNvSpPr txBox="1">
            <a:spLocks/>
          </p:cNvSpPr>
          <p:nvPr/>
        </p:nvSpPr>
        <p:spPr>
          <a:xfrm>
            <a:off x="6195465" y="914400"/>
            <a:ext cx="5395365" cy="4111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US" dirty="0" err="1"/>
              <a:t>ADABoost</a:t>
            </a:r>
            <a:r>
              <a:rPr lang="en-US" dirty="0"/>
              <a:t> did not perform well on our dataset</a:t>
            </a:r>
          </a:p>
          <a:p>
            <a:pPr>
              <a:buFontTx/>
              <a:buChar char="-"/>
            </a:pPr>
            <a:r>
              <a:rPr lang="en-US" dirty="0"/>
              <a:t>Logistic Regression </a:t>
            </a:r>
            <a:r>
              <a:rPr lang="en-US" dirty="0">
                <a:sym typeface="Wingdings" pitchFamily="2" charset="2"/>
              </a:rPr>
              <a:t> simple model</a:t>
            </a:r>
          </a:p>
          <a:p>
            <a:pPr>
              <a:buFontTx/>
              <a:buChar char="-"/>
            </a:pPr>
            <a:r>
              <a:rPr lang="en-US" dirty="0">
                <a:sym typeface="Wingdings" pitchFamily="2" charset="2"/>
              </a:rPr>
              <a:t>Random Forest and Gradient Boosting  complex models with error understanding</a:t>
            </a:r>
            <a:endParaRPr lang="en-US" dirty="0"/>
          </a:p>
        </p:txBody>
      </p:sp>
      <p:pic>
        <p:nvPicPr>
          <p:cNvPr id="9" name="Picture 8" descr="A screen shot of a score&#10;&#10;AI-generated content may be incorrect.">
            <a:extLst>
              <a:ext uri="{FF2B5EF4-FFF2-40B4-BE49-F238E27FC236}">
                <a16:creationId xmlns:a16="http://schemas.microsoft.com/office/drawing/2014/main" id="{FC679EFB-E898-27E9-AEF2-6FBB6B0848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5" y="2377041"/>
            <a:ext cx="4401878" cy="3429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781AA0-EC3F-ECE7-5795-BE4EEBBDF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6056" y="2913888"/>
            <a:ext cx="40640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207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8DE52-6538-86EE-F1A1-CEC849469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B7166-5D06-1038-6B14-6542FD7D1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F2A45-E136-7CFF-8B2C-5DDB106FF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50065"/>
            <a:ext cx="5395365" cy="41118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Classification Report: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C9322A4-80E4-0658-77A8-E8E0827E8E62}"/>
              </a:ext>
            </a:extLst>
          </p:cNvPr>
          <p:cNvSpPr txBox="1">
            <a:spLocks/>
          </p:cNvSpPr>
          <p:nvPr/>
        </p:nvSpPr>
        <p:spPr>
          <a:xfrm>
            <a:off x="6195465" y="914400"/>
            <a:ext cx="5395365" cy="4111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668CAEF-6F3B-E830-C029-CBBCD60E1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2781" y="1009268"/>
            <a:ext cx="7401938" cy="507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7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8ECAC5-16FA-EE21-8027-3657313F9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Live demo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phic 5" descr="Monitor">
            <a:extLst>
              <a:ext uri="{FF2B5EF4-FFF2-40B4-BE49-F238E27FC236}">
                <a16:creationId xmlns:a16="http://schemas.microsoft.com/office/drawing/2014/main" id="{292A82B4-CD6A-0C7D-8778-C2F769AFF3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925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DBF1B-24FC-14E0-78B9-C88722C66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Discussion, limitations, &amp;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B83C0-A2DA-E56F-CF64-FC79685DBA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Discussion:</a:t>
            </a:r>
          </a:p>
          <a:p>
            <a:pPr lvl="1"/>
            <a:r>
              <a:rPr lang="en-US" dirty="0"/>
              <a:t>Dataset research &amp; concatenation was a long process</a:t>
            </a:r>
          </a:p>
          <a:p>
            <a:pPr lvl="2"/>
            <a:r>
              <a:rPr lang="en-US" dirty="0"/>
              <a:t>Lots of data misalignment</a:t>
            </a:r>
          </a:p>
          <a:p>
            <a:r>
              <a:rPr lang="en-US" dirty="0"/>
              <a:t>Limitations:</a:t>
            </a:r>
          </a:p>
          <a:p>
            <a:pPr lvl="1"/>
            <a:r>
              <a:rPr lang="en-US" dirty="0"/>
              <a:t>Dataset required much imputation</a:t>
            </a:r>
          </a:p>
          <a:p>
            <a:pPr lvl="1"/>
            <a:r>
              <a:rPr lang="en-US" dirty="0"/>
              <a:t>Initial goal: to predict university name; modified goal: to predict university category</a:t>
            </a:r>
          </a:p>
          <a:p>
            <a:pPr lvl="2"/>
            <a:r>
              <a:rPr lang="en-US" dirty="0"/>
              <a:t>Cannot predict university name with high accuracy (consistent results of &lt;50% accuracy) since each data entry was a specific university, thus there were hundreds of classes to predict</a:t>
            </a:r>
          </a:p>
          <a:p>
            <a:r>
              <a:rPr lang="en-US" dirty="0"/>
              <a:t>Conclusion:</a:t>
            </a:r>
          </a:p>
          <a:p>
            <a:pPr lvl="1"/>
            <a:r>
              <a:rPr lang="en-US" dirty="0"/>
              <a:t>High accuracy &amp; classification reports (due to smaller amount classes to classify from)</a:t>
            </a:r>
          </a:p>
        </p:txBody>
      </p:sp>
    </p:spTree>
    <p:extLst>
      <p:ext uri="{BB962C8B-B14F-4D97-AF65-F5344CB8AC3E}">
        <p14:creationId xmlns:p14="http://schemas.microsoft.com/office/powerpoint/2010/main" val="3336343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1A796-EB4E-83F8-146B-3B8F5CF65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FA92C-72AB-B01E-B519-61B330CE6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Google search AI Overview</a:t>
            </a:r>
          </a:p>
          <a:p>
            <a:pPr lvl="1"/>
            <a:r>
              <a:rPr lang="en-US" dirty="0"/>
              <a:t>Debugging questions, syntax, improving performance, imputation questions</a:t>
            </a:r>
          </a:p>
          <a:p>
            <a:r>
              <a:rPr lang="en-US" dirty="0"/>
              <a:t>Gemini</a:t>
            </a:r>
          </a:p>
          <a:p>
            <a:pPr lvl="1"/>
            <a:r>
              <a:rPr lang="en-US" dirty="0"/>
              <a:t>Datasets research and suggestions</a:t>
            </a:r>
          </a:p>
          <a:p>
            <a:r>
              <a:rPr lang="en-US" dirty="0"/>
              <a:t>Claude</a:t>
            </a:r>
          </a:p>
          <a:p>
            <a:pPr lvl="1"/>
            <a:r>
              <a:rPr lang="en-US" dirty="0"/>
              <a:t>UI debugging and code resource package research</a:t>
            </a:r>
          </a:p>
        </p:txBody>
      </p:sp>
    </p:spTree>
    <p:extLst>
      <p:ext uri="{BB962C8B-B14F-4D97-AF65-F5344CB8AC3E}">
        <p14:creationId xmlns:p14="http://schemas.microsoft.com/office/powerpoint/2010/main" val="3169381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4565-6665-69E4-DC24-39D65CFE4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2AA35-E4E9-9F5F-43CF-2F06A95BC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https://github.com/daisyapto/CMPSC445_Project2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97446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0A013-8BC3-F0FB-DDE5-A98AC1303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4" y="723010"/>
            <a:ext cx="10691265" cy="1307592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2151F-8CAA-2D08-B100-228032BEB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584251"/>
            <a:ext cx="10691265" cy="4582633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2"/>
              </a:rPr>
              <a:t>https://data.pa.gov/Post-Secondary-Education/PA-Higher-Education-Institutions-by-Sector-Current/8u5h-xvus/about_data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3"/>
              </a:rPr>
              <a:t>https://catalog.data.gov/dataset?q=pennsylvania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4"/>
              </a:rPr>
              <a:t>https://github.com/daisyapto/CMPSC445_Project1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5"/>
              </a:rPr>
              <a:t>https://www.pasda.psu.edu/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6"/>
              </a:rPr>
              <a:t>https://catalog.data.gov/dataset/?q=resturants&amp;sort=views_recent+desc&amp;ext_location=&amp;ext_bbox=&amp;ext_prev_extent=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7"/>
              </a:rPr>
              <a:t>https://business.yelp.com/data/resources/open-dataset/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8"/>
              </a:rPr>
              <a:t>https://data.pa.gov/browse?sortBy=relevance&amp;page=1&amp;pageSize=20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9"/>
              </a:rPr>
              <a:t>https://data.pa.gov/Post-Secondary-Education/Supply-Demand-Gap-Analysis-2014-2024-State-System-/n3sx-ckrr/about_data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0"/>
              </a:rPr>
              <a:t>https://en.wikipedia.org/wiki/List_of_counties_in_Pennsylvania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1"/>
              </a:rPr>
              <a:t>https://scikit-learn.org/stable/modules/ensemble.html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2"/>
              </a:rPr>
              <a:t>https://scikit-learn.org/stable/modules/generated/sklearn.ensemble.StackingClassifier.html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3"/>
              </a:rPr>
              <a:t>https://scikit-learn.org/stable/modules/generated/sklearn.impute.SimpleImputer.html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4"/>
              </a:rPr>
              <a:t>https://scikit-learn.org/stable/modules/generated/sklearn.impute.KNNImputer.html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5"/>
              </a:rPr>
              <a:t>https://scikit-learn.org/stable/modules/generated/sklearn.neighbors.KNeighborsClassifier.html#sklearn.neighbors.KNeighborsClassifier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6"/>
              </a:rPr>
              <a:t>https://scikit-learn.org/stable/modules/generated/sklearn.tree.DecisionTreeClassifier.html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7"/>
              </a:rPr>
              <a:t>https://scikit-learn.org/stable/modules/generated/sklearn.ensemble.RandomForestClassifier.html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8"/>
              </a:rPr>
              <a:t>https://scikit-learn.org/stable/modules/generated/sklearn.metrics.classification_report.html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19"/>
              </a:rPr>
              <a:t>https://scikit-learn.org/stable/modules/impute.html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20"/>
              </a:rPr>
              <a:t>https://scikit-learn.org/stable/modules/generated/sklearn.impute.IterativeImputer.html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21"/>
              </a:rPr>
              <a:t>https://scikit-learn.org/stable/modules/generated/sklearn.feature_selection.SelectKBest.html#sklearn.feature_selection.SelectKBest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22"/>
              </a:rPr>
              <a:t>https://colab.research.google.com/drive/17gnNWQZh33lMmOdcHpeg6bP78hJsjtVw?usp=sharing</a:t>
            </a:r>
            <a:endParaRPr lang="en-US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u="sng" dirty="0">
                <a:hlinkClick r:id="rId23"/>
              </a:rPr>
              <a:t>https://www.collegetuitioncompare.com/compare/tables/?state=PA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979608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Metadata/LabelInfo.xml><?xml version="1.0" encoding="utf-8"?>
<clbl:labelList xmlns:clbl="http://schemas.microsoft.com/office/2020/mipLabelMetadata">
  <clbl:label id="{7cf48d45-3ddb-4389-a9c1-c115526eb52e}" enabled="0" method="" siteId="{7cf48d45-3ddb-4389-a9c1-c115526eb52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963</Words>
  <Application>Microsoft Macintosh PowerPoint</Application>
  <PresentationFormat>Widescreen</PresentationFormat>
  <Paragraphs>91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Calisto MT</vt:lpstr>
      <vt:lpstr>Univers Condensed</vt:lpstr>
      <vt:lpstr>Wingdings</vt:lpstr>
      <vt:lpstr>ChronicleVTI</vt:lpstr>
      <vt:lpstr>”Best in PA” Universities/Colleges Category Ensemble Classification</vt:lpstr>
      <vt:lpstr>Project description &amp; Significance</vt:lpstr>
      <vt:lpstr>data</vt:lpstr>
      <vt:lpstr>Data preprocessing</vt:lpstr>
      <vt:lpstr>Model(s)</vt:lpstr>
      <vt:lpstr>Results (1)</vt:lpstr>
      <vt:lpstr>Results (2)</vt:lpstr>
      <vt:lpstr>Live demo</vt:lpstr>
      <vt:lpstr>Discussion, limitations, &amp; Conclusion</vt:lpstr>
      <vt:lpstr>Ai usage</vt:lpstr>
      <vt:lpstr>github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Aptovska, Daisy</dc:creator>
  <cp:lastModifiedBy>Aptovska, Daisy</cp:lastModifiedBy>
  <cp:revision>2</cp:revision>
  <dcterms:created xsi:type="dcterms:W3CDTF">2026-03-27T21:13:28Z</dcterms:created>
  <dcterms:modified xsi:type="dcterms:W3CDTF">2026-04-27T00:54:58Z</dcterms:modified>
</cp:coreProperties>
</file>